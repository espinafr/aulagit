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abertura. Apresente o tema: controle de versão com Git e GitHub. Vamos do primeiro comando até publicar na nuvem.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Controle de versão registra o que mudou, quando e por quem. Os 5 motivos: colaboração, histórico/backup, branches, redundância (distribuído) e qualidade.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Git = ferramenta de controle de versão local, distribuída, código aberto. GitHub = plataforma na nuvem que hospeda repositórios Git e adiciona colaboração.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Passo a passo da conta e config global do Git. Autenticação por Personal Access Token ou chave SSH — o GitHub não aceita senha comum no git push.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Repositório = arquivos + histórico + pasta .git. Duas formas de obter: iniciar do zero com git init, ou clonar um existente com git clone.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Três Árvores: Working Directory, Staging Area e HEAD. git add move para preparação; git commit consolida no histórico. Ciclo: status, add, commit, log.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Etapas finais: criar repo remoto no GitHub, copiar URL, git remote add origin, git branch -M main, git push -u origin main. Sincronizado!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Encerramento: recapitule os cinco comandos essenciais. Direcione os alunos à apostila e à animação interativa.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C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 --oneline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2011680"/>
            <a:ext cx="108813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5400" b="1" dirty="0">
                <a:solidFill>
                  <a:srgbClr val="F5F1E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Controle de Versão
</a:t>
            </a:r>
            <a:endParaRPr lang="en-US" sz="5400" dirty="0"/>
          </a:p>
          <a:p>
            <a:pPr algn="l" indent="0" marL="0">
              <a:lnSpc>
                <a:spcPts val="5600"/>
              </a:lnSpc>
              <a:buNone/>
            </a:pPr>
            <a:r>
              <a:rPr lang="en-US" sz="5400" b="1" dirty="0">
                <a:solidFill>
                  <a:srgbClr val="F4A259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com Git &amp; GitHub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58368" y="429768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D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primeiro git init ao git push — rastreie cada alteração e colabore sem perder trabalho.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58368" y="5212080"/>
            <a:ext cx="1280160" cy="502920"/>
          </a:xfrm>
          <a:prstGeom prst="roundRect">
            <a:avLst>
              <a:gd name="adj" fmla="val 18182"/>
            </a:avLst>
          </a:prstGeom>
          <a:solidFill>
            <a:srgbClr val="13263B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521208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6BD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init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075688" y="5212080"/>
            <a:ext cx="1280160" cy="502920"/>
          </a:xfrm>
          <a:prstGeom prst="roundRect">
            <a:avLst>
              <a:gd name="adj" fmla="val 18182"/>
            </a:avLst>
          </a:prstGeom>
          <a:solidFill>
            <a:srgbClr val="13263B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75688" y="521208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6BD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93008" y="5212080"/>
            <a:ext cx="1280160" cy="502920"/>
          </a:xfrm>
          <a:prstGeom prst="roundRect">
            <a:avLst>
              <a:gd name="adj" fmla="val 18182"/>
            </a:avLst>
          </a:prstGeom>
          <a:solidFill>
            <a:srgbClr val="13263B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93008" y="521208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6BD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910328" y="5212080"/>
            <a:ext cx="1280160" cy="502920"/>
          </a:xfrm>
          <a:prstGeom prst="roundRect">
            <a:avLst>
              <a:gd name="adj" fmla="val 18182"/>
            </a:avLst>
          </a:prstGeom>
          <a:solidFill>
            <a:srgbClr val="13263B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0328" y="521208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6BD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6126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D87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AULA · 06 / 08 /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300" kern="0" dirty="0">
                <a:solidFill>
                  <a:srgbClr val="F4A2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CONCEITO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509760" y="4572000"/>
            <a:ext cx="23774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0" b="1" dirty="0">
                <a:solidFill>
                  <a:srgbClr val="142A4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5F1E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 que é controle de versão?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6766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D7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sistema (</a:t>
            </a:r>
            <a:pPr indent="0" marL="0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F6BD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VCS / SCM</a:t>
            </a:r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D7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que rastreia o histórico de alterações em arquivos e coordena o trabalho de várias pessoas — registrando cada modificação ao longo de uma linha do tempo.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097280" y="4023360"/>
            <a:ext cx="6035040" cy="0"/>
          </a:xfrm>
          <a:prstGeom prst="line">
            <a:avLst/>
          </a:prstGeom>
          <a:noFill/>
          <a:ln w="38100">
            <a:solidFill>
              <a:srgbClr val="F4A25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3794760"/>
            <a:ext cx="457200" cy="457200"/>
          </a:xfrm>
          <a:prstGeom prst="ellipse">
            <a:avLst/>
          </a:prstGeom>
          <a:solidFill>
            <a:srgbClr val="13263B"/>
          </a:solidFill>
          <a:ln w="38100">
            <a:solidFill>
              <a:srgbClr val="F4A25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3891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DB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v. inicial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880360" y="3794760"/>
            <a:ext cx="457200" cy="457200"/>
          </a:xfrm>
          <a:prstGeom prst="ellipse">
            <a:avLst/>
          </a:prstGeom>
          <a:solidFill>
            <a:srgbClr val="13263B"/>
          </a:solidFill>
          <a:ln w="38100">
            <a:solidFill>
              <a:srgbClr val="F4A25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43891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DB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login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92040" y="3794760"/>
            <a:ext cx="457200" cy="457200"/>
          </a:xfrm>
          <a:prstGeom prst="ellipse">
            <a:avLst/>
          </a:prstGeom>
          <a:solidFill>
            <a:srgbClr val="13263B"/>
          </a:solidFill>
          <a:ln w="38100">
            <a:solidFill>
              <a:srgbClr val="F4A25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0" y="43891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DB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corrige bug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903720" y="3794760"/>
            <a:ext cx="457200" cy="457200"/>
          </a:xfrm>
          <a:prstGeom prst="ellipse">
            <a:avLst/>
          </a:prstGeom>
          <a:solidFill>
            <a:srgbClr val="F4A259"/>
          </a:solidFill>
          <a:ln w="38100">
            <a:solidFill>
              <a:srgbClr val="F4A25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43891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C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955280" y="1737360"/>
            <a:ext cx="3566160" cy="4023360"/>
          </a:xfrm>
          <a:prstGeom prst="roundRect">
            <a:avLst>
              <a:gd name="adj" fmla="val 3077"/>
            </a:avLst>
          </a:prstGeom>
          <a:solidFill>
            <a:srgbClr val="13263B"/>
          </a:solidFill>
          <a:ln w="12700">
            <a:solidFill>
              <a:srgbClr val="2340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0" y="19659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A259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Por que é essencial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29600" y="2468880"/>
            <a:ext cx="31089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D7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Equipe em paralelo, sem sobrescrever</a:t>
            </a:r>
            <a:endParaRPr lang="en-US" sz="13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D7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⏪  Histórico completo — volte no tempo</a:t>
            </a:r>
            <a:endParaRPr lang="en-US" sz="13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D7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  Branches para experimentar seguro</a:t>
            </a:r>
            <a:endParaRPr lang="en-US" sz="13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D7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 Cópia completa em cada máquina</a:t>
            </a:r>
            <a:endParaRPr lang="en-US" sz="13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D7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Qualidade e agilidade na entrega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40080" y="641908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D87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Controle de Versão · Git &amp; GitHub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300" kern="0" dirty="0">
                <a:solidFill>
                  <a:srgbClr val="F4A2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DISTINÇÃO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509760" y="4572000"/>
            <a:ext cx="23774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0" b="1" dirty="0">
                <a:solidFill>
                  <a:srgbClr val="142A4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5F1E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Git × GitHub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FB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Git é a ferramenta. O GitHub é a plataforma.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5029200" cy="3566160"/>
          </a:xfrm>
          <a:prstGeom prst="roundRect">
            <a:avLst>
              <a:gd name="adj" fmla="val 3590"/>
            </a:avLst>
          </a:prstGeom>
          <a:solidFill>
            <a:srgbClr val="13263B"/>
          </a:solidFill>
          <a:ln w="25400">
            <a:solidFill>
              <a:srgbClr val="F4A25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60604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A259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GIT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60120" y="3291840"/>
            <a:ext cx="44805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D7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Roda localmente no seu PC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D7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Cópia completa do repositório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D7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Funciona offline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D7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⌨  Opera por linha de comando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5394960"/>
            <a:ext cx="2194560" cy="411480"/>
          </a:xfrm>
          <a:prstGeom prst="roundRect">
            <a:avLst>
              <a:gd name="adj" fmla="val 17778"/>
            </a:avLst>
          </a:prstGeom>
          <a:solidFill>
            <a:srgbClr val="142A42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539496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4A2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papel: CLIENTE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92240" y="2377440"/>
            <a:ext cx="5029200" cy="3566160"/>
          </a:xfrm>
          <a:prstGeom prst="roundRect">
            <a:avLst>
              <a:gd name="adj" fmla="val 3590"/>
            </a:avLst>
          </a:prstGeom>
          <a:solidFill>
            <a:srgbClr val="13263B"/>
          </a:solidFill>
          <a:ln w="25400">
            <a:solidFill>
              <a:srgbClr val="4CC9B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6560" y="260604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CC9B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GITHUB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812280" y="3291840"/>
            <a:ext cx="44805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D7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  Serviço online (nuvem)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D7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 Pull requests e issues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D7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 Automação com GitHub Actions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D7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Portfólio e colaboração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766560" y="5394960"/>
            <a:ext cx="2194560" cy="411480"/>
          </a:xfrm>
          <a:prstGeom prst="roundRect">
            <a:avLst>
              <a:gd name="adj" fmla="val 17778"/>
            </a:avLst>
          </a:prstGeom>
          <a:solidFill>
            <a:srgbClr val="142A42"/>
          </a:solidFill>
          <a:ln/>
        </p:spPr>
      </p:sp>
      <p:sp>
        <p:nvSpPr>
          <p:cNvPr id="15" name="Text 13"/>
          <p:cNvSpPr/>
          <p:nvPr/>
        </p:nvSpPr>
        <p:spPr>
          <a:xfrm>
            <a:off x="6766560" y="539496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C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papel: SERVIDOR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23560" y="365760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6BD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 ▶
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6BD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◀ pull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40080" y="641908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D87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Ferramentas distintas e complementares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300" kern="0" dirty="0">
                <a:solidFill>
                  <a:srgbClr val="F4A2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PREPARAÇÃO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509760" y="4572000"/>
            <a:ext cx="23774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0" b="1" dirty="0">
                <a:solidFill>
                  <a:srgbClr val="142A4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1E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Conta no GitHub + configurar o Git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A259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 · Criar a conta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2331720"/>
            <a:ext cx="48463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D7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Acesse github.com</a:t>
            </a:r>
            <a:endParaRPr lang="en-US" sz="14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D7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Clique em “Sign up”</a:t>
            </a:r>
            <a:endParaRPr lang="en-US" sz="14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D7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E-mail, senha e username</a:t>
            </a:r>
            <a:endParaRPr lang="en-US" sz="14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D7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Resolva o CAPTCHA</a:t>
            </a:r>
            <a:endParaRPr lang="en-US" sz="14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D7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Escolha o plano Free</a:t>
            </a:r>
            <a:endParaRPr lang="en-US" sz="14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D7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Confirme o e-mail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035040" y="1828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A259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 · Configurar o Git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035040" y="2331720"/>
            <a:ext cx="5486400" cy="1737360"/>
          </a:xfrm>
          <a:prstGeom prst="roundRect">
            <a:avLst>
              <a:gd name="adj" fmla="val 5263"/>
            </a:avLst>
          </a:prstGeom>
          <a:solidFill>
            <a:srgbClr val="071019"/>
          </a:solidFill>
          <a:ln w="12700">
            <a:solidFill>
              <a:srgbClr val="2340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63640" y="2514600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F5F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config --global user.name "Seu Nome"
</a:t>
            </a:r>
            <a:endParaRPr lang="en-US" sz="12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F5F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config --global user.email "voce@ex.com"
</a:t>
            </a:r>
            <a:endParaRPr lang="en-US" sz="12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6D87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use o MESMO e-mail da conta GitHub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035040" y="42976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A259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 · Autenticar o push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035040" y="4800600"/>
            <a:ext cx="2606040" cy="1143000"/>
          </a:xfrm>
          <a:prstGeom prst="roundRect">
            <a:avLst>
              <a:gd name="adj" fmla="val 8000"/>
            </a:avLst>
          </a:prstGeom>
          <a:solidFill>
            <a:srgbClr val="13263B"/>
          </a:solidFill>
          <a:ln w="12700">
            <a:solidFill>
              <a:srgbClr val="2340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72200" y="493776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Token (PAT)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D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substitui a senha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915400" y="4800600"/>
            <a:ext cx="2606040" cy="1143000"/>
          </a:xfrm>
          <a:prstGeom prst="roundRect">
            <a:avLst>
              <a:gd name="adj" fmla="val 8000"/>
            </a:avLst>
          </a:prstGeom>
          <a:solidFill>
            <a:srgbClr val="13263B"/>
          </a:solidFill>
          <a:ln w="12700">
            <a:solidFill>
              <a:srgbClr val="2340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52560" y="493776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Chave SSH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D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digitar sempre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641908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D87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 não aceita senha tradicional no terminal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300" kern="0" dirty="0">
                <a:solidFill>
                  <a:srgbClr val="F4A2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REPOSITÓRIO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509760" y="4572000"/>
            <a:ext cx="23774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0" b="1" dirty="0">
                <a:solidFill>
                  <a:srgbClr val="142A4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F1E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 que é um repositório?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D7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pasta especial com todos os arquivos </a:t>
            </a:r>
            <a:pPr indent="0" marL="0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F6BD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o histórico completo</a:t>
            </a:r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D7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 pasta oculta </a:t>
            </a:r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4C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</a:t>
            </a:r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D7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é o “cérebro” que monitora tudo.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2743200"/>
            <a:ext cx="5303520" cy="3108960"/>
          </a:xfrm>
          <a:prstGeom prst="roundRect">
            <a:avLst>
              <a:gd name="adj" fmla="val 4118"/>
            </a:avLst>
          </a:prstGeom>
          <a:solidFill>
            <a:srgbClr val="13263B"/>
          </a:solidFill>
          <a:ln w="25400">
            <a:solidFill>
              <a:srgbClr val="F4A25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9718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A259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Método 1 · do zero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914400" y="3566160"/>
            <a:ext cx="4754880" cy="1371600"/>
          </a:xfrm>
          <a:prstGeom prst="roundRect">
            <a:avLst>
              <a:gd name="adj" fmla="val 5333"/>
            </a:avLst>
          </a:prstGeom>
          <a:solidFill>
            <a:srgbClr val="071019"/>
          </a:solidFill>
          <a:ln w="12700">
            <a:solidFill>
              <a:srgbClr val="2340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3749040"/>
            <a:ext cx="4480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5F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cd caminho/da/pasta
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5F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init
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DB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Initialized empty Git repo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512064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 a pasta .git e começa a monitorar o projeto.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2743200"/>
            <a:ext cx="5303520" cy="3108960"/>
          </a:xfrm>
          <a:prstGeom prst="roundRect">
            <a:avLst>
              <a:gd name="adj" fmla="val 4118"/>
            </a:avLst>
          </a:prstGeom>
          <a:solidFill>
            <a:srgbClr val="13263B"/>
          </a:solidFill>
          <a:ln w="25400">
            <a:solidFill>
              <a:srgbClr val="4CC9B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29718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CC9B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Método 2 · clonar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492240" y="3566160"/>
            <a:ext cx="4754880" cy="1371600"/>
          </a:xfrm>
          <a:prstGeom prst="roundRect">
            <a:avLst>
              <a:gd name="adj" fmla="val 5333"/>
            </a:avLst>
          </a:prstGeom>
          <a:solidFill>
            <a:srgbClr val="071019"/>
          </a:solidFill>
          <a:ln w="12700">
            <a:solidFill>
              <a:srgbClr val="2340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0" y="3749040"/>
            <a:ext cx="4480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F5F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clone \
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4C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https://github.com/user/proj.git
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9DB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Cloning into 'proj'...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92240" y="512064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 todos os arquivos + todo o histórico de uma vez.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641908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D87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init  ·  git clone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300" kern="0" dirty="0">
                <a:solidFill>
                  <a:srgbClr val="F4A2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· FLUXO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509760" y="4572000"/>
            <a:ext cx="23774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0" b="1" dirty="0">
                <a:solidFill>
                  <a:srgbClr val="142A4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F1E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As Três Árvores do Git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3017520" cy="1920240"/>
          </a:xfrm>
          <a:prstGeom prst="roundRect">
            <a:avLst>
              <a:gd name="adj" fmla="val 5714"/>
            </a:avLst>
          </a:prstGeom>
          <a:solidFill>
            <a:srgbClr val="13263B"/>
          </a:solidFill>
          <a:ln w="25400">
            <a:solidFill>
              <a:srgbClr val="6FB1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5146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FB1E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Working Directory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32004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D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você edita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0" y="2286000"/>
            <a:ext cx="3017520" cy="1920240"/>
          </a:xfrm>
          <a:prstGeom prst="roundRect">
            <a:avLst>
              <a:gd name="adj" fmla="val 5714"/>
            </a:avLst>
          </a:prstGeom>
          <a:solidFill>
            <a:srgbClr val="13263B"/>
          </a:solidFill>
          <a:ln w="25400">
            <a:solidFill>
              <a:srgbClr val="F4A25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25146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A259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Staging Area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754880" y="32004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D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 o commit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503920" y="2286000"/>
            <a:ext cx="3017520" cy="1920240"/>
          </a:xfrm>
          <a:prstGeom prst="roundRect">
            <a:avLst>
              <a:gd name="adj" fmla="val 5714"/>
            </a:avLst>
          </a:prstGeom>
          <a:solidFill>
            <a:srgbClr val="13263B"/>
          </a:solidFill>
          <a:ln w="25400">
            <a:solidFill>
              <a:srgbClr val="4CC9B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0" y="25146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CC9B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HEAD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686800" y="32004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D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oficial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57600" y="27889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A2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452360" y="27889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C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703320" y="3246120"/>
            <a:ext cx="822960" cy="0"/>
          </a:xfrm>
          <a:prstGeom prst="line">
            <a:avLst/>
          </a:prstGeom>
          <a:noFill/>
          <a:ln w="25400">
            <a:solidFill>
              <a:srgbClr val="F4A259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635240" y="3246120"/>
            <a:ext cx="822960" cy="0"/>
          </a:xfrm>
          <a:prstGeom prst="line">
            <a:avLst/>
          </a:prstGeom>
          <a:noFill/>
          <a:ln w="25400">
            <a:solidFill>
              <a:srgbClr val="4CC9B0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640080" y="4572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A259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 ciclo prático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0080" y="5029200"/>
            <a:ext cx="2560320" cy="640080"/>
          </a:xfrm>
          <a:prstGeom prst="roundRect">
            <a:avLst>
              <a:gd name="adj" fmla="val 14286"/>
            </a:avLst>
          </a:prstGeom>
          <a:solidFill>
            <a:srgbClr val="142A42"/>
          </a:solidFill>
          <a:ln w="12700">
            <a:solidFill>
              <a:srgbClr val="2340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50292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5F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status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200400" y="5029200"/>
            <a:ext cx="228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429000" y="5029200"/>
            <a:ext cx="2560320" cy="640080"/>
          </a:xfrm>
          <a:prstGeom prst="roundRect">
            <a:avLst>
              <a:gd name="adj" fmla="val 14286"/>
            </a:avLst>
          </a:prstGeom>
          <a:solidFill>
            <a:srgbClr val="142A42"/>
          </a:solidFill>
          <a:ln w="12700">
            <a:solidFill>
              <a:srgbClr val="2340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29000" y="50292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5F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989320" y="5029200"/>
            <a:ext cx="228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217920" y="5029200"/>
            <a:ext cx="2560320" cy="640080"/>
          </a:xfrm>
          <a:prstGeom prst="roundRect">
            <a:avLst>
              <a:gd name="adj" fmla="val 14286"/>
            </a:avLst>
          </a:prstGeom>
          <a:solidFill>
            <a:srgbClr val="142A42"/>
          </a:solidFill>
          <a:ln w="12700">
            <a:solidFill>
              <a:srgbClr val="2340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50292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5F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"..."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778240" y="5029200"/>
            <a:ext cx="228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006840" y="5029200"/>
            <a:ext cx="2560320" cy="640080"/>
          </a:xfrm>
          <a:prstGeom prst="roundRect">
            <a:avLst>
              <a:gd name="adj" fmla="val 14286"/>
            </a:avLst>
          </a:prstGeom>
          <a:solidFill>
            <a:srgbClr val="142A42"/>
          </a:solidFill>
          <a:ln w="12700">
            <a:solidFill>
              <a:srgbClr val="2340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006840" y="50292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5F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40080" y="641908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D87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 prepara · commit consolida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300" kern="0" dirty="0">
                <a:solidFill>
                  <a:srgbClr val="F4A2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· SINCRONIZAR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509760" y="4572000"/>
            <a:ext cx="23774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0" b="1" dirty="0">
                <a:solidFill>
                  <a:srgbClr val="142A4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F1E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Conectar o local ao GitHub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6035040" cy="3429000"/>
          </a:xfrm>
          <a:prstGeom prst="roundRect">
            <a:avLst>
              <a:gd name="adj" fmla="val 2667"/>
            </a:avLst>
          </a:prstGeom>
          <a:solidFill>
            <a:srgbClr val="071019"/>
          </a:solidFill>
          <a:ln w="12700">
            <a:solidFill>
              <a:srgbClr val="2340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057400"/>
            <a:ext cx="557784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F5F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remote add origin \
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4C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https://github.com/voce/proj.git
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F5F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branch -M main
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F5F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push -u origin main
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9DB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Enumerating objects... done.
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9DB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Branch 'main' tracking 'origin/main'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040880" y="2011680"/>
            <a:ext cx="44805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D7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Crie o repo remoto (New)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D7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Copie a URL do repositório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D7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Vincule: remote add origin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D7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Defina a branch main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D7E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Envie: git push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5394960"/>
            <a:ext cx="10881360" cy="685800"/>
          </a:xfrm>
          <a:prstGeom prst="roundRect">
            <a:avLst>
              <a:gd name="adj" fmla="val 13333"/>
            </a:avLst>
          </a:prstGeom>
          <a:solidFill>
            <a:srgbClr val="13263B"/>
          </a:solidFill>
          <a:ln w="12700">
            <a:solidFill>
              <a:srgbClr val="4CC9B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39496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C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Pronto! Repositório local criado, ativo e sincronizado com o GitHub.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641908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D87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zero à nuvem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C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"aula concluída"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F1E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 caminho completo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640080" y="3200400"/>
            <a:ext cx="1920240" cy="777240"/>
          </a:xfrm>
          <a:prstGeom prst="roundRect">
            <a:avLst>
              <a:gd name="adj" fmla="val 14118"/>
            </a:avLst>
          </a:prstGeom>
          <a:solidFill>
            <a:srgbClr val="13263B"/>
          </a:solidFill>
          <a:ln w="25400">
            <a:solidFill>
              <a:srgbClr val="F4A25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20040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4A2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init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560320" y="3200400"/>
            <a:ext cx="320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D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880360" y="3200400"/>
            <a:ext cx="1920240" cy="777240"/>
          </a:xfrm>
          <a:prstGeom prst="roundRect">
            <a:avLst>
              <a:gd name="adj" fmla="val 14118"/>
            </a:avLst>
          </a:prstGeom>
          <a:solidFill>
            <a:srgbClr val="13263B"/>
          </a:solidFill>
          <a:ln w="25400">
            <a:solidFill>
              <a:srgbClr val="6FB1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80360" y="320040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FB1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00600" y="3200400"/>
            <a:ext cx="320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D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120640" y="3200400"/>
            <a:ext cx="1920240" cy="777240"/>
          </a:xfrm>
          <a:prstGeom prst="roundRect">
            <a:avLst>
              <a:gd name="adj" fmla="val 14118"/>
            </a:avLst>
          </a:prstGeom>
          <a:solidFill>
            <a:srgbClr val="13263B"/>
          </a:solidFill>
          <a:ln w="25400">
            <a:solidFill>
              <a:srgbClr val="F6BD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0" y="320040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6BD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040880" y="3200400"/>
            <a:ext cx="320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D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360920" y="3200400"/>
            <a:ext cx="1920240" cy="777240"/>
          </a:xfrm>
          <a:prstGeom prst="roundRect">
            <a:avLst>
              <a:gd name="adj" fmla="val 14118"/>
            </a:avLst>
          </a:prstGeom>
          <a:solidFill>
            <a:srgbClr val="13263B"/>
          </a:solidFill>
          <a:ln w="25400">
            <a:solidFill>
              <a:srgbClr val="4CC9B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60920" y="320040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C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281160" y="3200400"/>
            <a:ext cx="320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D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601200" y="3200400"/>
            <a:ext cx="1920240" cy="777240"/>
          </a:xfrm>
          <a:prstGeom prst="roundRect">
            <a:avLst>
              <a:gd name="adj" fmla="val 14118"/>
            </a:avLst>
          </a:prstGeom>
          <a:solidFill>
            <a:srgbClr val="4CC9B0"/>
          </a:solidFill>
          <a:ln w="25400">
            <a:solidFill>
              <a:srgbClr val="4CC9B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0" y="320040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☁ nuvem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45720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9D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 tudo. Colabore sem medo. Publique com um push.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40080" y="56692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D87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📖 Apostila completa  ·  🎬 Animação interativa  ·  📊 Estes slides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2026-08-06T10:01:18Z</dcterms:created>
  <dcterms:modified xsi:type="dcterms:W3CDTF">2026-08-06T10:01:18Z</dcterms:modified>
</cp:coreProperties>
</file>